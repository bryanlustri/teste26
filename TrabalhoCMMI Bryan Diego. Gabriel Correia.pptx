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sldIdLst>
    <p:sldId id="256" r:id="rId2"/>
    <p:sldId id="257" r:id="rId3"/>
    <p:sldId id="258" r:id="rId4"/>
    <p:sldId id="269" r:id="rId5"/>
    <p:sldId id="271" r:id="rId6"/>
    <p:sldId id="272" r:id="rId7"/>
    <p:sldId id="268" r:id="rId8"/>
    <p:sldId id="270" r:id="rId9"/>
    <p:sldId id="259" r:id="rId10"/>
    <p:sldId id="260" r:id="rId11"/>
    <p:sldId id="261" r:id="rId12"/>
    <p:sldId id="262" r:id="rId13"/>
    <p:sldId id="273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E36E241-48D1-4886-AAA7-8BE9B6F496FA}">
          <p14:sldIdLst>
            <p14:sldId id="256"/>
            <p14:sldId id="257"/>
          </p14:sldIdLst>
        </p14:section>
        <p14:section name="d" id="{E470DBDB-8EEE-40F4-AE8B-4A45B6675C77}">
          <p14:sldIdLst>
            <p14:sldId id="258"/>
            <p14:sldId id="269"/>
            <p14:sldId id="271"/>
            <p14:sldId id="272"/>
            <p14:sldId id="268"/>
            <p14:sldId id="270"/>
            <p14:sldId id="259"/>
            <p14:sldId id="260"/>
            <p14:sldId id="261"/>
            <p14:sldId id="26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03" autoAdjust="0"/>
  </p:normalViewPr>
  <p:slideViewPr>
    <p:cSldViewPr snapToGrid="0">
      <p:cViewPr varScale="1">
        <p:scale>
          <a:sx n="82" d="100"/>
          <a:sy n="82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0058EC-875A-4148-B1BC-97D8CFB10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D477FD-2522-46AA-981B-0BFAEA316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8B0776-E06F-4DF4-8EB4-C900C084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A9C286-65CD-4A2C-8BEF-0C753220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3E6A75-B273-4F14-9873-D525B5A0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3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A08ED-75EF-4A2F-ABA5-12DE541BE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92AD3D-642E-4AF8-86A7-8584C8C7A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3E02C5-C1E6-4E60-825F-18347AB6E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4E02B9-D8A7-4D57-8BE1-CC7A9D232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F85299-6C9A-4C18-9E35-AC2608E67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0386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2C346-E867-4FC2-8983-B633BA21E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0886E7-886E-426D-9DDF-0DB0571FD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4CC558-A5F0-4E38-B916-A1E10173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DF0600-BE04-46CE-9657-BA6A2F9E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E5B009-625E-4D25-88C4-35B893C0D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67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01786-309D-44A1-A9E7-27788A0BB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6186B4-5D1C-48D7-A887-67E6CE776B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B8D8F1-5D99-4430-8061-FB972CAFF2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658E34-9907-4231-B1B8-AA68B74CC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61874C-8AE3-4D60-B1A8-27627884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9AE4253-26DB-4FA8-84E5-D3EF02B3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1445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2C9133-1CD0-4C38-8DDB-A1A6C173C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74A84B-C0B1-4218-A3D3-412E3C309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A3D067-7977-44F2-BBA0-1E59E6CB4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8D258E4-0540-45D0-A4F5-83973529A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C6EF47D-73E5-4207-A63D-4174BCF98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76CAF9-544F-43BF-8893-420FCD91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0FE0B8-32B4-45AB-BBA5-77112521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0F2F61B-12B0-4326-B1DA-EF0F09BD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9714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BCD9D3-F3BD-41F8-825A-B723A23AF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0382529-85AD-4FDF-A4A7-95D4AD8C8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76609B9-E67D-4271-90F2-B197E666F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7DB6288-0A71-46CC-B77C-A38A41E23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2052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A4A703-27DE-4CCA-9B5D-30EB59F0D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3433341-4774-4666-927E-ABAF1A063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9718C45-E77C-45B7-BEA9-AAC18B3E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770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460D2-3BAD-48C7-9804-1F4778D8B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3B4884-84F7-4CB3-922B-50AC1014D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18B2AE-9699-49EE-B535-DFB22F092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BA57B2-7536-4199-AAAA-38D6FA41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D02B6F-8892-4517-BBBB-77250190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DF339E-63F5-413A-8CA5-320F8D04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2074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6AE93-51F6-4482-AE97-3E3F788A1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886FBAE-1F85-47B9-A4F8-F75B18EBC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87210F-E97C-4CFC-9E6C-98E8F453AE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D6B7CB2-EE92-4E5E-9D8A-686A0762F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E1B5FF-6144-4274-8902-5A7296253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7BC8BF-639C-4789-85FA-3FCB0D07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258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B3998-3F5C-41F8-B807-5EAA8056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2BBBBD-2A6D-4C2F-B123-BF0D0A561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102079-9CA3-4D69-9D40-3F668AE7B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CBC365-8836-44A3-962E-735969E41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F6673B-9F1A-4A24-BDD6-7402EB331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834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AE4CA0-C7B3-477F-8DAD-E26930774D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ED562E-4409-42DC-A2E9-F7AC4920DA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4C98FD-F4AD-4B2F-89B2-C4EB1C4DA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0290CA-FFF3-4EE1-A53B-B3C345499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C110AE-02D6-4BC8-8A62-218E4D0CC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678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E29BFE5-C425-4177-8178-A23BD1D85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A2FCE9-8CB2-440F-82FD-6954476E6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BE9F95-64C7-4FBB-B876-A5640BFC76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75B04-1AEA-497A-9193-4CE215E72899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0E41BB4-7876-4D7A-BDE7-68F67BC358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95C6C1-B4D4-46A3-A55A-8329026F9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F8A4F-EB0F-4273-A08C-E491F426C4F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8629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mmiinstitute.com/" TargetMode="External"/><Relationship Id="rId2" Type="http://schemas.openxmlformats.org/officeDocument/2006/relationships/hyperlink" Target="https://softex.br/iniciativas/mps-br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isaca.org/enterprise/cmmi-performance-solutions" TargetMode="External"/><Relationship Id="rId4" Type="http://schemas.openxmlformats.org/officeDocument/2006/relationships/hyperlink" Target="https://www.isaca.org/enterprise/performance-improvement-solu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tângulo 40">
            <a:extLst>
              <a:ext uri="{FF2B5EF4-FFF2-40B4-BE49-F238E27FC236}">
                <a16:creationId xmlns:a16="http://schemas.microsoft.com/office/drawing/2014/main" id="{199F78E8-98B6-419F-8030-04CDA6AFE7F4}"/>
              </a:ext>
            </a:extLst>
          </p:cNvPr>
          <p:cNvSpPr/>
          <p:nvPr/>
        </p:nvSpPr>
        <p:spPr>
          <a:xfrm rot="14839569">
            <a:off x="3540922" y="2707635"/>
            <a:ext cx="14717486" cy="377372"/>
          </a:xfrm>
          <a:prstGeom prst="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7C5DA5B-7454-4322-8B10-0D36A629C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294" y="-319162"/>
            <a:ext cx="9144000" cy="2387600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pt-BR" dirty="0">
                <a:solidFill>
                  <a:srgbClr val="0070C0"/>
                </a:solidFill>
                <a:latin typeface="Bahnschrift SemiBold" panose="020B0502040204020203" pitchFamily="34" charset="0"/>
              </a:rPr>
              <a:t>CMMI e MPS.BR: Modelos de Qualidade de Software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5B192F-01D0-402D-B0CC-C63D3972E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941" y="2068438"/>
            <a:ext cx="9144000" cy="1655762"/>
          </a:xfrm>
        </p:spPr>
        <p:txBody>
          <a:bodyPr/>
          <a:lstStyle/>
          <a:p>
            <a:pPr algn="ctr"/>
            <a:r>
              <a:rPr lang="pt-BR" dirty="0">
                <a:latin typeface="Bahnschrift SemiBold" panose="020B0502040204020203" pitchFamily="34" charset="0"/>
              </a:rPr>
              <a:t>MODELOS DE QUALIDADE DE SOFTWARE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79EE9CE-A5B8-453A-971D-79A59F0D3EAD}"/>
              </a:ext>
            </a:extLst>
          </p:cNvPr>
          <p:cNvSpPr txBox="1"/>
          <p:nvPr/>
        </p:nvSpPr>
        <p:spPr>
          <a:xfrm>
            <a:off x="4146894" y="2980298"/>
            <a:ext cx="22878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latin typeface="Bahnschrift SemiBold" panose="020B0502040204020203" pitchFamily="34" charset="0"/>
              </a:rPr>
              <a:t>Bryan Diego </a:t>
            </a:r>
          </a:p>
          <a:p>
            <a:r>
              <a:rPr lang="pt-BR" sz="2400" dirty="0">
                <a:latin typeface="Bahnschrift SemiBold" panose="020B0502040204020203" pitchFamily="34" charset="0"/>
              </a:rPr>
              <a:t>Gabriel Correia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1925245-89A0-46BE-9A6D-91BE946474E4}"/>
              </a:ext>
            </a:extLst>
          </p:cNvPr>
          <p:cNvSpPr txBox="1"/>
          <p:nvPr/>
        </p:nvSpPr>
        <p:spPr>
          <a:xfrm>
            <a:off x="1777207" y="4181410"/>
            <a:ext cx="71143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latin typeface="Bahnschrift SemiBold" panose="020B0502040204020203" pitchFamily="34" charset="0"/>
              </a:rPr>
              <a:t>3 DA - QTS   </a:t>
            </a:r>
          </a:p>
          <a:p>
            <a:pPr algn="ctr"/>
            <a:r>
              <a:rPr lang="pt-BR" sz="4000" dirty="0">
                <a:latin typeface="Bahnschrift SemiBold" panose="020B0502040204020203" pitchFamily="34" charset="0"/>
              </a:rPr>
              <a:t>20/05/2026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6266CCC8-2394-42D9-A913-F51ECB787DDC}"/>
              </a:ext>
            </a:extLst>
          </p:cNvPr>
          <p:cNvSpPr/>
          <p:nvPr/>
        </p:nvSpPr>
        <p:spPr>
          <a:xfrm rot="14839569">
            <a:off x="4465187" y="2707633"/>
            <a:ext cx="14717486" cy="377372"/>
          </a:xfrm>
          <a:prstGeom prst="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2D586545-A71F-4589-8C59-77B8F4397053}"/>
              </a:ext>
            </a:extLst>
          </p:cNvPr>
          <p:cNvSpPr/>
          <p:nvPr/>
        </p:nvSpPr>
        <p:spPr>
          <a:xfrm rot="14839569">
            <a:off x="5270730" y="2337518"/>
            <a:ext cx="14717486" cy="377372"/>
          </a:xfrm>
          <a:prstGeom prst="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7D16A235-B498-44C0-B4B2-7A5954D89F76}"/>
              </a:ext>
            </a:extLst>
          </p:cNvPr>
          <p:cNvSpPr/>
          <p:nvPr/>
        </p:nvSpPr>
        <p:spPr>
          <a:xfrm>
            <a:off x="-3841831" y="968216"/>
            <a:ext cx="4895333" cy="573339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F675C85A-8ADB-4A43-9CE0-3CEB15209DF9}"/>
              </a:ext>
            </a:extLst>
          </p:cNvPr>
          <p:cNvSpPr/>
          <p:nvPr/>
        </p:nvSpPr>
        <p:spPr>
          <a:xfrm>
            <a:off x="-4223496" y="1007994"/>
            <a:ext cx="4895333" cy="573339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55A1C667-0C2A-49D6-B117-6B119CCA53A2}"/>
              </a:ext>
            </a:extLst>
          </p:cNvPr>
          <p:cNvSpPr/>
          <p:nvPr/>
        </p:nvSpPr>
        <p:spPr>
          <a:xfrm>
            <a:off x="-4605161" y="1016245"/>
            <a:ext cx="4895333" cy="573339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F49BEB3-C356-4DAB-B0A9-8361964DF5AB}"/>
              </a:ext>
            </a:extLst>
          </p:cNvPr>
          <p:cNvSpPr txBox="1"/>
          <p:nvPr/>
        </p:nvSpPr>
        <p:spPr>
          <a:xfrm>
            <a:off x="4366088" y="5699107"/>
            <a:ext cx="31200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latin typeface="Bahnschrift SemiBold" panose="020B0502040204020203" pitchFamily="34" charset="0"/>
              </a:rPr>
              <a:t>PROF : Marcio</a:t>
            </a:r>
          </a:p>
        </p:txBody>
      </p:sp>
    </p:spTree>
    <p:extLst>
      <p:ext uri="{BB962C8B-B14F-4D97-AF65-F5344CB8AC3E}">
        <p14:creationId xmlns:p14="http://schemas.microsoft.com/office/powerpoint/2010/main" val="1588700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35F35B0-8488-4BC7-8B60-FC3E2BD27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355" y="2662246"/>
            <a:ext cx="834635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Guias de boas práticas: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Estruturas que ajudam as empresas a organizar, medir e 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melhorar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a forma como desenvolvem software.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</a:b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</a:b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Foco na previsibilidade: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Reduzem erros, controlam custos e garantem que os prazos 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sejam cumpridos.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</a:b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</a:b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Cultura de melhoria contínua: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Não são regras rígidas, mas sim um caminho para a </a:t>
            </a:r>
            <a:b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</a:b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evolução constante dos processos internos.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FA943E-05D3-4A4A-ACD1-77FFD295A1C5}"/>
              </a:ext>
            </a:extLst>
          </p:cNvPr>
          <p:cNvSpPr txBox="1"/>
          <p:nvPr/>
        </p:nvSpPr>
        <p:spPr>
          <a:xfrm>
            <a:off x="304354" y="457200"/>
            <a:ext cx="90802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>
                <a:latin typeface="Bahnschrift SemiBold" panose="020B0502040204020203" pitchFamily="34" charset="0"/>
              </a:rPr>
              <a:t>O que são modelos de processo?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7569A5F-D067-4D48-8718-9FC08C7D3779}"/>
              </a:ext>
            </a:extLst>
          </p:cNvPr>
          <p:cNvSpPr/>
          <p:nvPr/>
        </p:nvSpPr>
        <p:spPr>
          <a:xfrm>
            <a:off x="8650705" y="-312821"/>
            <a:ext cx="4391526" cy="77242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Plano de Negócios (Business Plan): o que é, por que e como fazer">
            <a:extLst>
              <a:ext uri="{FF2B5EF4-FFF2-40B4-BE49-F238E27FC236}">
                <a16:creationId xmlns:a16="http://schemas.microsoft.com/office/drawing/2014/main" id="{6BEC1A03-D012-4731-AAB4-1FFC419D2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810" y="-674370"/>
            <a:ext cx="5154930" cy="8252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94697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1B87D-5236-4DF1-9537-AD1400C8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988" y="268872"/>
            <a:ext cx="6733674" cy="1325563"/>
          </a:xfrm>
        </p:spPr>
        <p:txBody>
          <a:bodyPr>
            <a:normAutofit/>
          </a:bodyPr>
          <a:lstStyle/>
          <a:p>
            <a:r>
              <a:rPr lang="pt-BR" sz="4800" dirty="0">
                <a:latin typeface="Bahnschrift SemiBold" panose="020B0502040204020203" pitchFamily="34" charset="0"/>
              </a:rPr>
              <a:t>CMMI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DBA3E02-A052-4680-BF03-CD500783C20D}"/>
              </a:ext>
            </a:extLst>
          </p:cNvPr>
          <p:cNvSpPr/>
          <p:nvPr/>
        </p:nvSpPr>
        <p:spPr>
          <a:xfrm>
            <a:off x="-529390" y="-300790"/>
            <a:ext cx="3775510" cy="77242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8E29670-F4FC-47AE-AA26-1D82D7D626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45218" y="1584926"/>
            <a:ext cx="829913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Origem: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Criado nos EUA pelo SEI (</a:t>
            </a:r>
            <a:r>
              <a:rPr kumimoji="0" lang="pt-BR" altLang="pt-BR" sz="2400" b="0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Software</a:t>
            </a: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kumimoji="0" lang="pt-BR" altLang="pt-B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Engineering</a:t>
            </a:r>
            <a:r>
              <a:rPr kumimoji="0" lang="pt-BR" altLang="pt-BR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kumimoji="0" lang="pt-BR" altLang="pt-BR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Institute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) da Universidade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Carnegie </a:t>
            </a:r>
            <a:r>
              <a:rPr kumimoji="0" lang="pt-BR" altLang="pt-B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Mellon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400" b="1" dirty="0"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Padrão Global: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É o modelo de qualidade de software mais reconhecido e exigido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internacionalmente.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400" b="1" dirty="0"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Abordagem Flexível: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Focado na capacidade dos processos e na maturidade 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organização como um todo.</a:t>
            </a:r>
          </a:p>
        </p:txBody>
      </p:sp>
      <p:pic>
        <p:nvPicPr>
          <p:cNvPr id="2050" name="Picture 2" descr="450 ideias de negócios para quem quer empreender em 2019 - Pequenas  Empresas Grandes Negócios | MEI">
            <a:extLst>
              <a:ext uri="{FF2B5EF4-FFF2-40B4-BE49-F238E27FC236}">
                <a16:creationId xmlns:a16="http://schemas.microsoft.com/office/drawing/2014/main" id="{46CB8BD7-BC31-4A77-920D-3B442445C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82253" y="-800101"/>
            <a:ext cx="5879783" cy="897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790058"/>
      </p:ext>
    </p:extLst>
  </p:cSld>
  <p:clrMapOvr>
    <a:masterClrMapping/>
  </p:clrMapOvr>
  <p:transition spd="slow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1B87D-5236-4DF1-9537-AD1400C8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 dirty="0">
                <a:latin typeface="Bahnschrift SemiBold" panose="020B0502040204020203" pitchFamily="34" charset="0"/>
              </a:rPr>
              <a:t>Níveis de Maturidade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E4757-CD59-4F7E-AD1B-77613B4A5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09" y="1690688"/>
            <a:ext cx="7562850" cy="5020945"/>
          </a:xfrm>
        </p:spPr>
        <p:txBody>
          <a:bodyPr>
            <a:normAutofit fontScale="77500" lnSpcReduction="20000"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O CMMI (na representação por estágios) é dividido em 5 níveis de maturidade: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Nível 1: Inicial</a:t>
            </a:r>
            <a:r>
              <a:rPr lang="pt-BR" dirty="0">
                <a:latin typeface="Arial Narrow" panose="020B0606020202030204" pitchFamily="34" charset="0"/>
              </a:rPr>
              <a:t> – Processos imprevisíveis, reativos e dependentes de heróis individuais.</a:t>
            </a:r>
          </a:p>
          <a:p>
            <a:endParaRPr lang="pt-BR" b="1" dirty="0"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Nível 2: Gerenciado</a:t>
            </a:r>
            <a:r>
              <a:rPr lang="pt-BR" dirty="0">
                <a:latin typeface="Arial Narrow" panose="020B0606020202030204" pitchFamily="34" charset="0"/>
              </a:rPr>
              <a:t> – Projetos são planejados, medidos e controlados localmente.</a:t>
            </a:r>
          </a:p>
          <a:p>
            <a:endParaRPr lang="pt-BR" b="1" dirty="0"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Nível 3: Definido</a:t>
            </a:r>
            <a:r>
              <a:rPr lang="pt-BR" dirty="0">
                <a:latin typeface="Arial Narrow" panose="020B0606020202030204" pitchFamily="34" charset="0"/>
              </a:rPr>
              <a:t> – Os processos são padronizados e documentados para toda a organização.</a:t>
            </a:r>
          </a:p>
          <a:p>
            <a:endParaRPr lang="pt-BR" b="1" dirty="0"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Nível 4: Gerenciado Quantitativamente</a:t>
            </a:r>
            <a:r>
              <a:rPr lang="pt-BR" dirty="0">
                <a:latin typeface="Arial Narrow" panose="020B0606020202030204" pitchFamily="34" charset="0"/>
              </a:rPr>
              <a:t> – Processos controlados por métricas estatísticas.</a:t>
            </a:r>
          </a:p>
          <a:p>
            <a:endParaRPr lang="pt-BR" b="1" dirty="0">
              <a:latin typeface="Arial Narrow" panose="020B0606020202030204" pitchFamily="34" charset="0"/>
            </a:endParaRPr>
          </a:p>
          <a:p>
            <a:r>
              <a:rPr lang="pt-BR" b="1" dirty="0">
                <a:latin typeface="Arial Narrow" panose="020B0606020202030204" pitchFamily="34" charset="0"/>
              </a:rPr>
              <a:t>Nível 5: Em Otimização</a:t>
            </a:r>
            <a:r>
              <a:rPr lang="pt-BR" dirty="0">
                <a:latin typeface="Arial Narrow" panose="020B0606020202030204" pitchFamily="34" charset="0"/>
              </a:rPr>
              <a:t> – Foco total na melhoria contínua e inovação tecnológica.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206CF3-D975-4AC0-9B7D-1E887B1217EB}"/>
              </a:ext>
            </a:extLst>
          </p:cNvPr>
          <p:cNvSpPr/>
          <p:nvPr/>
        </p:nvSpPr>
        <p:spPr>
          <a:xfrm>
            <a:off x="8789670" y="-733927"/>
            <a:ext cx="3542698" cy="77242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076" name="Picture 4" descr="Os cinco níveis de maturidade de processos no CMM Fonte: Adaptado de... |  Download Scientific Diagram">
            <a:extLst>
              <a:ext uri="{FF2B5EF4-FFF2-40B4-BE49-F238E27FC236}">
                <a16:creationId xmlns:a16="http://schemas.microsoft.com/office/drawing/2014/main" id="{EA4EA46F-005C-4277-BC2C-001EC4329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087" y="1873568"/>
            <a:ext cx="4201281" cy="284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475691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1B87D-5236-4DF1-9537-AD1400C8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0525" y="300955"/>
            <a:ext cx="10515600" cy="1325563"/>
          </a:xfrm>
        </p:spPr>
        <p:txBody>
          <a:bodyPr/>
          <a:lstStyle/>
          <a:p>
            <a:r>
              <a:rPr lang="pt-BR" dirty="0">
                <a:latin typeface="Bahnschrift SemiBold" panose="020B0502040204020203" pitchFamily="34" charset="0"/>
              </a:rPr>
              <a:t>Exemplos Práticos de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4E4757-CD59-4F7E-AD1B-77613B4A5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0525" y="2037236"/>
            <a:ext cx="6648450" cy="4373563"/>
          </a:xfrm>
        </p:spPr>
        <p:txBody>
          <a:bodyPr>
            <a:normAutofit fontScale="92500" lnSpcReduction="10000"/>
          </a:bodyPr>
          <a:lstStyle/>
          <a:p>
            <a:r>
              <a:rPr lang="pt-BR" dirty="0">
                <a:latin typeface="Arial Narrow" panose="020B0606020202030204" pitchFamily="34" charset="0"/>
              </a:rPr>
              <a:t>Dependendo do nível, a empresa precisa dominar áreas específicas, como: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Gerenciamento de Requisitos (REQM):</a:t>
            </a:r>
            <a:r>
              <a:rPr lang="pt-BR" dirty="0">
                <a:latin typeface="Arial Narrow" panose="020B0606020202030204" pitchFamily="34" charset="0"/>
              </a:rPr>
              <a:t> Garantir que o que o cliente pediu é exatamente o que está sendo desenvolvido.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Garantia da Qualidade do Processo e do Produto (PPQA):</a:t>
            </a:r>
            <a:r>
              <a:rPr lang="pt-BR" dirty="0">
                <a:latin typeface="Arial Narrow" panose="020B0606020202030204" pitchFamily="34" charset="0"/>
              </a:rPr>
              <a:t> Auditorias para checar se a equipe está seguindo os processos combinados.</a:t>
            </a:r>
          </a:p>
          <a:p>
            <a:r>
              <a:rPr lang="pt-BR" b="1" dirty="0">
                <a:latin typeface="Arial Narrow" panose="020B0606020202030204" pitchFamily="34" charset="0"/>
              </a:rPr>
              <a:t>Análise de Causa Raiz e Resolução (CAR):</a:t>
            </a:r>
            <a:r>
              <a:rPr lang="pt-BR" dirty="0">
                <a:latin typeface="Arial Narrow" panose="020B0606020202030204" pitchFamily="34" charset="0"/>
              </a:rPr>
              <a:t> Investigar a fundo por que um erro grave aconteceu para que ele nunca mais se repita.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5AD33E3-6F48-4043-B8E3-8BABCFA2DD9E}"/>
              </a:ext>
            </a:extLst>
          </p:cNvPr>
          <p:cNvSpPr/>
          <p:nvPr/>
        </p:nvSpPr>
        <p:spPr>
          <a:xfrm>
            <a:off x="0" y="-866273"/>
            <a:ext cx="3371850" cy="77242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098" name="Picture 2" descr="Fazer negócios no Brasil está melhor, mas ainda é ruim, diz Banco Mundial -  MZ Advocacia">
            <a:extLst>
              <a:ext uri="{FF2B5EF4-FFF2-40B4-BE49-F238E27FC236}">
                <a16:creationId xmlns:a16="http://schemas.microsoft.com/office/drawing/2014/main" id="{E8C22604-FDB3-48CA-948B-15F8B9F0C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85750"/>
            <a:ext cx="3223260" cy="742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564744"/>
      </p:ext>
    </p:extLst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1B87D-5236-4DF1-9537-AD1400C8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45" y="307975"/>
            <a:ext cx="7951470" cy="1325563"/>
          </a:xfrm>
        </p:spPr>
        <p:txBody>
          <a:bodyPr/>
          <a:lstStyle/>
          <a:p>
            <a:r>
              <a:rPr lang="pt-BR" dirty="0">
                <a:latin typeface="Bahnschrift SemiBold" panose="020B0502040204020203" pitchFamily="34" charset="0"/>
              </a:rPr>
              <a:t>MPS.BR (Melhoria de Processo do Software Brasileiro)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A2423CE-D3B0-4621-B755-DB4D8DFE3EE6}"/>
              </a:ext>
            </a:extLst>
          </p:cNvPr>
          <p:cNvSpPr/>
          <p:nvPr/>
        </p:nvSpPr>
        <p:spPr>
          <a:xfrm>
            <a:off x="8698230" y="-733927"/>
            <a:ext cx="3634138" cy="77242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CA691EA-C88E-40FA-9086-6B9F9656DA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07096"/>
            <a:ext cx="707136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Origem: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Criado em 2003 pela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Softex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para a realidade das empresas brasileiras.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Acessível e Econômico: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Custos de consultoria e certificação muito menores que os do CMMI.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Alinhamento Internacional: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Baseado nas normas ISO/IEC 12207 e ISO/IEC 15504, mantendo forte compatibilidade com o CMMI.</a:t>
            </a:r>
          </a:p>
        </p:txBody>
      </p:sp>
    </p:spTree>
    <p:extLst>
      <p:ext uri="{BB962C8B-B14F-4D97-AF65-F5344CB8AC3E}">
        <p14:creationId xmlns:p14="http://schemas.microsoft.com/office/powerpoint/2010/main" val="620583154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1B87D-5236-4DF1-9537-AD1400C8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807" y="-77031"/>
            <a:ext cx="10515600" cy="1325563"/>
          </a:xfrm>
        </p:spPr>
        <p:txBody>
          <a:bodyPr/>
          <a:lstStyle/>
          <a:p>
            <a:r>
              <a:rPr lang="pt-BR" dirty="0">
                <a:latin typeface="Bahnschrift SemiBold" panose="020B0502040204020203" pitchFamily="34" charset="0"/>
              </a:rPr>
              <a:t>Níveis de Maturidade (A ao G)</a:t>
            </a:r>
          </a:p>
        </p:txBody>
      </p:sp>
      <p:graphicFrame>
        <p:nvGraphicFramePr>
          <p:cNvPr id="5" name="Espaço Reservado para Conteúdo 4">
            <a:extLst>
              <a:ext uri="{FF2B5EF4-FFF2-40B4-BE49-F238E27FC236}">
                <a16:creationId xmlns:a16="http://schemas.microsoft.com/office/drawing/2014/main" id="{1E9853F5-CF23-4502-AEAC-C5E317B310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2206270"/>
              </p:ext>
            </p:extLst>
          </p:nvPr>
        </p:nvGraphicFramePr>
        <p:xfrm>
          <a:off x="3938807" y="2033836"/>
          <a:ext cx="7171740" cy="4255886"/>
        </p:xfrm>
        <a:graphic>
          <a:graphicData uri="http://schemas.openxmlformats.org/drawingml/2006/table">
            <a:tbl>
              <a:tblPr/>
              <a:tblGrid>
                <a:gridCol w="2390580">
                  <a:extLst>
                    <a:ext uri="{9D8B030D-6E8A-4147-A177-3AD203B41FA5}">
                      <a16:colId xmlns:a16="http://schemas.microsoft.com/office/drawing/2014/main" val="906678014"/>
                    </a:ext>
                  </a:extLst>
                </a:gridCol>
                <a:gridCol w="2390580">
                  <a:extLst>
                    <a:ext uri="{9D8B030D-6E8A-4147-A177-3AD203B41FA5}">
                      <a16:colId xmlns:a16="http://schemas.microsoft.com/office/drawing/2014/main" val="4042699505"/>
                    </a:ext>
                  </a:extLst>
                </a:gridCol>
                <a:gridCol w="2390580">
                  <a:extLst>
                    <a:ext uri="{9D8B030D-6E8A-4147-A177-3AD203B41FA5}">
                      <a16:colId xmlns:a16="http://schemas.microsoft.com/office/drawing/2014/main" val="2990035399"/>
                    </a:ext>
                  </a:extLst>
                </a:gridCol>
              </a:tblGrid>
              <a:tr h="1119970">
                <a:tc>
                  <a:txBody>
                    <a:bodyPr/>
                    <a:lstStyle/>
                    <a:p>
                      <a:r>
                        <a:rPr lang="pt-BR" b="1" dirty="0">
                          <a:effectLst/>
                          <a:latin typeface="Google Sans Text"/>
                        </a:rPr>
                        <a:t>Nível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Classificação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Correspondência aproximada com CMMI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7851"/>
                  </a:ext>
                </a:extLst>
              </a:tr>
              <a:tr h="783979">
                <a:tc>
                  <a:txBody>
                    <a:bodyPr/>
                    <a:lstStyle/>
                    <a:p>
                      <a:r>
                        <a:rPr lang="pt-BR" b="1" dirty="0">
                          <a:effectLst/>
                          <a:latin typeface="Google Sans Text"/>
                        </a:rPr>
                        <a:t>G e F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effectLst/>
                          <a:latin typeface="Google Sans Text"/>
                        </a:rPr>
                        <a:t>Inicial / Gerenciado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Google Sans Text"/>
                        </a:rPr>
                        <a:t>Próximo ao CMMI Nível 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4566632"/>
                  </a:ext>
                </a:extLst>
              </a:tr>
              <a:tr h="783979"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E, D e C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Google Sans Text"/>
                        </a:rPr>
                        <a:t>Definido / Satisfeito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Google Sans Text"/>
                        </a:rPr>
                        <a:t>Próximo ao CMMI Nível 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0241153"/>
                  </a:ext>
                </a:extLst>
              </a:tr>
              <a:tr h="783979">
                <a:tc>
                  <a:txBody>
                    <a:bodyPr/>
                    <a:lstStyle/>
                    <a:p>
                      <a:r>
                        <a:rPr lang="pt-BR" b="1" dirty="0">
                          <a:effectLst/>
                          <a:latin typeface="Google Sans Text"/>
                        </a:rPr>
                        <a:t>B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effectLst/>
                          <a:latin typeface="Google Sans Text"/>
                        </a:rPr>
                        <a:t>Gerenciado Quantitativamente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Google Sans Text"/>
                        </a:rPr>
                        <a:t>Próximo ao CMMI Nível 4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976914"/>
                  </a:ext>
                </a:extLst>
              </a:tr>
              <a:tr h="783979">
                <a:tc>
                  <a:txBody>
                    <a:bodyPr/>
                    <a:lstStyle/>
                    <a:p>
                      <a:r>
                        <a:rPr lang="pt-BR" b="1">
                          <a:effectLst/>
                          <a:latin typeface="Google Sans Text"/>
                        </a:rPr>
                        <a:t>A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>
                          <a:effectLst/>
                          <a:latin typeface="Google Sans Text"/>
                        </a:rPr>
                        <a:t>Em Otimização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dirty="0">
                          <a:effectLst/>
                          <a:latin typeface="Google Sans Text"/>
                        </a:rPr>
                        <a:t>Próximo ao CMMI Nível 5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206003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43DFD704-7AF8-437C-95A1-A4B0DDED8936}"/>
              </a:ext>
            </a:extLst>
          </p:cNvPr>
          <p:cNvSpPr/>
          <p:nvPr/>
        </p:nvSpPr>
        <p:spPr>
          <a:xfrm>
            <a:off x="-527863" y="-433137"/>
            <a:ext cx="3602533" cy="77242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420592E-2C76-49FE-991D-D3869354B6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8807" y="1125701"/>
            <a:ext cx="7486650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Diferente do CMMI, o MPS.BR divide a jornada em 7 níveis para tornar a evolução mais gradual:</a:t>
            </a:r>
          </a:p>
        </p:txBody>
      </p:sp>
    </p:spTree>
    <p:extLst>
      <p:ext uri="{BB962C8B-B14F-4D97-AF65-F5344CB8AC3E}">
        <p14:creationId xmlns:p14="http://schemas.microsoft.com/office/powerpoint/2010/main" val="1615754748"/>
      </p:ext>
    </p:extLst>
  </p:cSld>
  <p:clrMapOvr>
    <a:masterClrMapping/>
  </p:clrMapOvr>
  <p:transition spd="slow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61B87D-5236-4DF1-9537-AD1400C8A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677" y="362815"/>
            <a:ext cx="6679223" cy="1325563"/>
          </a:xfrm>
        </p:spPr>
        <p:txBody>
          <a:bodyPr/>
          <a:lstStyle/>
          <a:p>
            <a:r>
              <a:rPr lang="pt-BR" dirty="0">
                <a:latin typeface="Bahnschrift SemiBold" panose="020B0502040204020203" pitchFamily="34" charset="0"/>
              </a:rPr>
              <a:t>Exemplos de Processos do MPS.BR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D2FD633-0394-4AC2-9EED-00DD3FCAA37F}"/>
              </a:ext>
            </a:extLst>
          </p:cNvPr>
          <p:cNvSpPr/>
          <p:nvPr/>
        </p:nvSpPr>
        <p:spPr>
          <a:xfrm>
            <a:off x="8755380" y="-733927"/>
            <a:ext cx="3576988" cy="77242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412E1D6-85AA-467A-9DC9-E60F49D20D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677" y="1988135"/>
            <a:ext cx="710264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Gerência de Projetos (GPM - Nível G):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Planejar o escopo, tempo e custos do projeto de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Gerência de Configuração (GCO - Nível F):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Controlar as versões do código-fonte (evitar que um programador apague o código do outro).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Verificação e Validação (VVV - Nível D):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Testar o software para garantir que ele funciona antes de mandar para o cliente.</a:t>
            </a:r>
          </a:p>
        </p:txBody>
      </p:sp>
      <p:pic>
        <p:nvPicPr>
          <p:cNvPr id="5122" name="Picture 2" descr="As 7 Etapas do Plano de Negócios Simplificado | Apolo Marcas">
            <a:extLst>
              <a:ext uri="{FF2B5EF4-FFF2-40B4-BE49-F238E27FC236}">
                <a16:creationId xmlns:a16="http://schemas.microsoft.com/office/drawing/2014/main" id="{727106FE-AA60-444B-A173-FE1949EC6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3323" y="-951422"/>
            <a:ext cx="4173415" cy="815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294946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F6A39-816D-4E9F-9835-14D3A5EDA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7108" y="89885"/>
            <a:ext cx="10515600" cy="1325563"/>
          </a:xfrm>
        </p:spPr>
        <p:txBody>
          <a:bodyPr/>
          <a:lstStyle/>
          <a:p>
            <a:r>
              <a:rPr lang="pt-BR" dirty="0">
                <a:latin typeface="Bahnschrift SemiBold" panose="020B0502040204020203" pitchFamily="34" charset="0"/>
              </a:rPr>
              <a:t>CMMI </a:t>
            </a:r>
            <a:r>
              <a:rPr lang="pt-BR" dirty="0" err="1">
                <a:latin typeface="Bahnschrift SemiBold" panose="020B0502040204020203" pitchFamily="34" charset="0"/>
              </a:rPr>
              <a:t>vs</a:t>
            </a:r>
            <a:r>
              <a:rPr lang="pt-BR" dirty="0">
                <a:latin typeface="Bahnschrift SemiBold" panose="020B0502040204020203" pitchFamily="34" charset="0"/>
              </a:rPr>
              <a:t> MPS.BR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708C22A-9687-4755-BDD3-33D0611C33DA}"/>
              </a:ext>
            </a:extLst>
          </p:cNvPr>
          <p:cNvSpPr/>
          <p:nvPr/>
        </p:nvSpPr>
        <p:spPr>
          <a:xfrm>
            <a:off x="-151598" y="-866273"/>
            <a:ext cx="3586460" cy="77242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70D9A11-6C44-493C-944D-20A3D27E5A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61985" y="1393524"/>
            <a:ext cx="763143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Abrangência: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O CMMI é internacional; o MPS.BR é focado no mercado nacional (embora baseado em normas ISO internacionais).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Custos: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CMMI exige avaliadores internacionais autorizados (em dólar); MPS.BR tem investimento em reais e subsídios para pequenas empresas.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Degraus de evolução: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CMMI possui 5 níveis (saltos maiores); MPS.BR possui 7 níveis (evolução mais suave).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Sinergia: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Uma empresa que atinge os níveis mais altos do MPS.BR tem facilidade extrema para se certificar em CMMI se precisar exportar.</a:t>
            </a:r>
          </a:p>
        </p:txBody>
      </p:sp>
      <p:pic>
        <p:nvPicPr>
          <p:cNvPr id="6148" name="Picture 4" descr="Gestão de negócios: o que é, tipos e importância">
            <a:extLst>
              <a:ext uri="{FF2B5EF4-FFF2-40B4-BE49-F238E27FC236}">
                <a16:creationId xmlns:a16="http://schemas.microsoft.com/office/drawing/2014/main" id="{6B5D806A-8628-4AC2-BDC8-A51D930D0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44323" y="-256925"/>
            <a:ext cx="5580185" cy="7443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759475"/>
      </p:ext>
    </p:extLst>
  </p:cSld>
  <p:clrMapOvr>
    <a:masterClrMapping/>
  </p:clrMapOvr>
  <p:transition spd="slow">
    <p:cover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44913-12BA-48E6-887D-4356AEAAE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30" y="365125"/>
            <a:ext cx="10515600" cy="1325563"/>
          </a:xfrm>
        </p:spPr>
        <p:txBody>
          <a:bodyPr/>
          <a:lstStyle/>
          <a:p>
            <a:r>
              <a:rPr lang="pt-BR" dirty="0">
                <a:latin typeface="Bahnschrift SemiBold" panose="020B0502040204020203" pitchFamily="34" charset="0"/>
              </a:rPr>
              <a:t>Benefícios das Certificações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79A4552-5BEE-4A2E-8288-3354BD04C43F}"/>
              </a:ext>
            </a:extLst>
          </p:cNvPr>
          <p:cNvSpPr/>
          <p:nvPr/>
        </p:nvSpPr>
        <p:spPr>
          <a:xfrm>
            <a:off x="8229600" y="-733927"/>
            <a:ext cx="4102768" cy="77242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A0B680-84C5-4CA3-BB3C-0FB33B3189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6730" y="2001415"/>
            <a:ext cx="743712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Para a Empresa: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Redução drástica de retrabalho e bugs.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Estimativas de prazo e orçamento muito mais precisas.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Diferencial competitivo para vencer licitações públicas e contratos privados.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Para a Equipe:</a:t>
            </a:r>
            <a:endParaRPr kumimoji="0" lang="pt-BR" altLang="pt-B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Ambiente de trabalho menos caótico e estressante.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Documentação clara: todos sabem o que e como devem fazer.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Certificação ISO: Quais os tipos de certificados e os benefícios que eles  trazem? - e-Safer cibersegurança para sua empresa">
            <a:extLst>
              <a:ext uri="{FF2B5EF4-FFF2-40B4-BE49-F238E27FC236}">
                <a16:creationId xmlns:a16="http://schemas.microsoft.com/office/drawing/2014/main" id="{C664ACE2-CD1B-4545-8CEE-2EE5AF297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0107" y="-365126"/>
            <a:ext cx="3944303" cy="8853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6542066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F9F84F-93AC-4A1C-AB33-8505328DC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228" y="124509"/>
            <a:ext cx="10515600" cy="1325563"/>
          </a:xfrm>
        </p:spPr>
        <p:txBody>
          <a:bodyPr/>
          <a:lstStyle/>
          <a:p>
            <a:r>
              <a:rPr lang="pt-BR" dirty="0">
                <a:latin typeface="Bahnschrift SemiBold" panose="020B0502040204020203" pitchFamily="34" charset="0"/>
              </a:rPr>
              <a:t>Aplicação no Mundo Real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0E348E9-E35F-451B-A6F7-9EDDDFFF5F90}"/>
              </a:ext>
            </a:extLst>
          </p:cNvPr>
          <p:cNvSpPr/>
          <p:nvPr/>
        </p:nvSpPr>
        <p:spPr>
          <a:xfrm>
            <a:off x="0" y="-300173"/>
            <a:ext cx="3692769" cy="7724273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1B35B8-7CDE-4C9E-95FE-26D06E5877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60228" y="1713556"/>
            <a:ext cx="775041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Cenário Sem Modelo de Qualidade: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cliente pede uma alteração por WhatsApp. O programador altera direto na produção. O sistema cai, ninguém sabe quem alterou e o prazo do projeto atrasa 2 semanas.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Cenário Com CMMI ou MPS.BR:</a:t>
            </a: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alteração entra como uma solicitação formal (Gerência de Requisitos).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 impacto no prazo é avaliado (Gerência de Projetos).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alteração é feita em ambiente de teste e validada (Verificação).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nova versão é lançada de forma segura (Gerência de Configuração).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Notas do Apresentador: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"Esse exemplo mostra o dia a dia. Sem processos, qualquer mudança gera caos. Com os modelos, a mudança segue uma esteira segura. O cliente sabe quando vai receber e a empresa não perde dinheiro."</a:t>
            </a:r>
          </a:p>
        </p:txBody>
      </p:sp>
      <p:pic>
        <p:nvPicPr>
          <p:cNvPr id="8194" name="Picture 2" descr="Forest: aplicativo de plantio de árvores digitais estimula convívio no mundo  real">
            <a:extLst>
              <a:ext uri="{FF2B5EF4-FFF2-40B4-BE49-F238E27FC236}">
                <a16:creationId xmlns:a16="http://schemas.microsoft.com/office/drawing/2014/main" id="{86A37A5A-13CA-4294-B932-D768847963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68215" y="-300174"/>
            <a:ext cx="4220965" cy="715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581431"/>
      </p:ext>
    </p:extLst>
  </p:cSld>
  <p:clrMapOvr>
    <a:masterClrMapping/>
  </p:clrMapOvr>
  <p:transition spd="slow">
    <p:cover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60A77-1C24-4E4D-96DD-4FECB50C3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584" y="271341"/>
            <a:ext cx="10515600" cy="1325563"/>
          </a:xfrm>
        </p:spPr>
        <p:txBody>
          <a:bodyPr/>
          <a:lstStyle/>
          <a:p>
            <a:r>
              <a:rPr lang="pt-BR" dirty="0">
                <a:latin typeface="Bahnschrift SemiBold" panose="020B0502040204020203" pitchFamily="34" charset="0"/>
              </a:rPr>
              <a:t>Conclusão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D8A499F-5650-4031-A2F3-C250976265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2584" y="2494698"/>
            <a:ext cx="11451756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Qualidade não é custo, é investimento: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Modelos de maturidade organizam o caos do desenvolvimento de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Escolha Estratégica: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O MPS.BR democratizou o acesso à qualidade no Brasil, enquanto o CMMI consolida o passaporte para o mercado global.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O foco é o cliente: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 No fim das contas, ambos os modelos servem para entregar um software melhor, dentro do prazo e do orçamento combinado.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FB4B022A-1F5F-4895-AD9C-78F6C2ECAB2A}"/>
              </a:ext>
            </a:extLst>
          </p:cNvPr>
          <p:cNvSpPr/>
          <p:nvPr/>
        </p:nvSpPr>
        <p:spPr>
          <a:xfrm>
            <a:off x="8480517" y="-3147259"/>
            <a:ext cx="4895333" cy="573339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AB810BA-0A0C-4062-8B55-4A76D7608B70}"/>
              </a:ext>
            </a:extLst>
          </p:cNvPr>
          <p:cNvSpPr/>
          <p:nvPr/>
        </p:nvSpPr>
        <p:spPr>
          <a:xfrm>
            <a:off x="8615857" y="-3327549"/>
            <a:ext cx="4895333" cy="573339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B043D9EA-0035-499C-BD60-2C2C68E1E624}"/>
              </a:ext>
            </a:extLst>
          </p:cNvPr>
          <p:cNvSpPr/>
          <p:nvPr/>
        </p:nvSpPr>
        <p:spPr>
          <a:xfrm>
            <a:off x="8751197" y="-3416399"/>
            <a:ext cx="4895333" cy="573339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06FA2DD-8BB0-4351-BDB7-769FFB78158B}"/>
              </a:ext>
            </a:extLst>
          </p:cNvPr>
          <p:cNvSpPr/>
          <p:nvPr/>
        </p:nvSpPr>
        <p:spPr>
          <a:xfrm rot="9613119">
            <a:off x="1392453" y="6115166"/>
            <a:ext cx="14717486" cy="377372"/>
          </a:xfrm>
          <a:prstGeom prst="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1F0A33C-6B5A-4307-9722-996D4D9AA5E8}"/>
              </a:ext>
            </a:extLst>
          </p:cNvPr>
          <p:cNvSpPr/>
          <p:nvPr/>
        </p:nvSpPr>
        <p:spPr>
          <a:xfrm rot="9539116">
            <a:off x="4833257" y="5968109"/>
            <a:ext cx="14717486" cy="377372"/>
          </a:xfrm>
          <a:prstGeom prst="rect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119651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7D77F-66BF-451A-873E-EF1B7003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FONTES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C111FA-D3A8-42CC-A3A8-7E5FF74E7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https://softex.br/iniciativas/mps-br/</a:t>
            </a:r>
            <a:endParaRPr lang="pt-BR" dirty="0"/>
          </a:p>
          <a:p>
            <a:endParaRPr lang="pt-BR" dirty="0"/>
          </a:p>
          <a:p>
            <a:r>
              <a:rPr lang="pt-BR" dirty="0">
                <a:hlinkClick r:id="rId3"/>
              </a:rPr>
              <a:t>https://cmmiinstitute.com/</a:t>
            </a:r>
            <a:endParaRPr lang="pt-BR" dirty="0"/>
          </a:p>
          <a:p>
            <a:endParaRPr lang="pt-BR" dirty="0"/>
          </a:p>
          <a:p>
            <a:r>
              <a:rPr lang="pt-BR" dirty="0">
                <a:hlinkClick r:id="rId4"/>
              </a:rPr>
              <a:t>https://www.isaca.org/enterprise/performance-improvement-solutions</a:t>
            </a:r>
            <a:endParaRPr lang="pt-BR" dirty="0"/>
          </a:p>
          <a:p>
            <a:endParaRPr lang="pt-BR" dirty="0"/>
          </a:p>
          <a:p>
            <a:r>
              <a:rPr lang="pt-BR" dirty="0">
                <a:hlinkClick r:id="rId5"/>
              </a:rPr>
              <a:t>https://www.isaca.org/enterprise/cmmi-performance-solutions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82627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Words>967</Words>
  <Application>Microsoft Office PowerPoint</Application>
  <PresentationFormat>Widescreen</PresentationFormat>
  <Paragraphs>107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Arial</vt:lpstr>
      <vt:lpstr>Arial Narrow</vt:lpstr>
      <vt:lpstr>Bahnschrift SemiBold</vt:lpstr>
      <vt:lpstr>Calibri</vt:lpstr>
      <vt:lpstr>Calibri Light</vt:lpstr>
      <vt:lpstr>Google Sans Text</vt:lpstr>
      <vt:lpstr>Tema do Office</vt:lpstr>
      <vt:lpstr>CMMI e MPS.BR: Modelos de Qualidade de Software</vt:lpstr>
      <vt:lpstr>Guias de boas práticas: Estruturas que ajudam as empresas a organizar, medir e melhorar  a forma como desenvolvem software.   Foco na previsibilidade: Reduzem erros, controlam custos e garantem que os prazos  sejam cumpridos.   Cultura de melhoria contínua: Não são regras rígidas, mas sim um caminho para a  evolução constante dos processos internos.</vt:lpstr>
      <vt:lpstr>CMMI</vt:lpstr>
      <vt:lpstr>Níveis de Maturidade</vt:lpstr>
      <vt:lpstr>Exemplos Práticos de Práticas</vt:lpstr>
      <vt:lpstr>MPS.BR (Melhoria de Processo do Software Brasileiro)</vt:lpstr>
      <vt:lpstr>Níveis de Maturidade (A ao G)</vt:lpstr>
      <vt:lpstr>Exemplos de Processos do MPS.BR</vt:lpstr>
      <vt:lpstr>CMMI vs MPS.BR</vt:lpstr>
      <vt:lpstr>Benefícios das Certificações</vt:lpstr>
      <vt:lpstr>Aplicação no Mundo Real</vt:lpstr>
      <vt:lpstr>Conclusão</vt:lpstr>
      <vt:lpstr>FONTES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CMMI e MPS.BR: Modelos de Qualidade de Software</dc:title>
  <dc:creator>Aluno</dc:creator>
  <cp:lastModifiedBy>Aluno</cp:lastModifiedBy>
  <cp:revision>10</cp:revision>
  <dcterms:created xsi:type="dcterms:W3CDTF">2026-05-20T14:12:29Z</dcterms:created>
  <dcterms:modified xsi:type="dcterms:W3CDTF">2026-05-27T14:41:16Z</dcterms:modified>
</cp:coreProperties>
</file>